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JetBrains Mono"/>
      <p:regular r:id="rId21"/>
      <p:bold r:id="rId22"/>
      <p:italic r:id="rId23"/>
      <p:boldItalic r:id="rId24"/>
    </p:embeddedFont>
    <p:embeddedFont>
      <p:font typeface="Space Grotesk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TEjWKhBCyATcjvQZagjRAyhEI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Italic.fntdata"/><Relationship Id="rId22" Type="http://schemas.openxmlformats.org/officeDocument/2006/relationships/font" Target="fonts/JetBrainsMono-bold.fntdata"/><Relationship Id="rId21" Type="http://schemas.openxmlformats.org/officeDocument/2006/relationships/font" Target="fonts/JetBrainsMono-regular.fntdata"/><Relationship Id="rId24" Type="http://schemas.openxmlformats.org/officeDocument/2006/relationships/font" Target="fonts/JetBrainsMono-boldItalic.fntdata"/><Relationship Id="rId23" Type="http://schemas.openxmlformats.org/officeDocument/2006/relationships/font" Target="fonts/JetBrains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paceGrotesk-bold.fntdata"/><Relationship Id="rId25" Type="http://schemas.openxmlformats.org/officeDocument/2006/relationships/font" Target="fonts/SpaceGrotesk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12.xml"/><Relationship Id="rId19" Type="http://schemas.openxmlformats.org/officeDocument/2006/relationships/font" Target="fonts/IBMPlexSans-italic.fntdata"/><Relationship Id="rId1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Boas-vindas à turma. Situar a UC1 no curso e apresentar o objetivo da aula: revisão dirigida de Python a serviço do raciocínio matemático que sustentará toda a unidade.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12800" y="1086338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CURSO ANALISTA DE DADOS — QUALIFICAÇÃO PROFISSIONAL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12800" y="2908376"/>
            <a:ext cx="10883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Aula 1 — Abertura da unidade e revisão de 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12800" y="5039420"/>
            <a:ext cx="3420467" cy="1005780"/>
          </a:xfrm>
          <a:prstGeom prst="roundRect">
            <a:avLst>
              <a:gd fmla="val 10102" name="adj"/>
            </a:avLst>
          </a:prstGeom>
          <a:solidFill>
            <a:srgbClr val="1B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16000" y="5242620"/>
            <a:ext cx="31044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u="none" cap="none" strike="noStrike">
                <a:solidFill>
                  <a:srgbClr val="8FA0B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Carga horária da UC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16000" y="5506740"/>
            <a:ext cx="3104489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44h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385667" y="5039420"/>
            <a:ext cx="3420566" cy="1005780"/>
          </a:xfrm>
          <a:prstGeom prst="roundRect">
            <a:avLst>
              <a:gd fmla="val 10102" name="adj"/>
            </a:avLst>
          </a:prstGeom>
          <a:solidFill>
            <a:srgbClr val="1B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88867" y="5242620"/>
            <a:ext cx="31045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u="none" cap="none" strike="noStrike">
                <a:solidFill>
                  <a:srgbClr val="8FA0BA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Duração desta aula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88867" y="5506740"/>
            <a:ext cx="3104591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4h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958634" y="5039420"/>
            <a:ext cx="3420566" cy="1005780"/>
          </a:xfrm>
          <a:prstGeom prst="roundRect">
            <a:avLst>
              <a:gd fmla="val 10102" name="adj"/>
            </a:avLst>
          </a:prstGeom>
          <a:solidFill>
            <a:srgbClr val="1B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811850" y="-1837325"/>
            <a:ext cx="4630800" cy="4579500"/>
          </a:xfrm>
          <a:prstGeom prst="ellipse">
            <a:avLst/>
          </a:prstGeom>
          <a:solidFill>
            <a:srgbClr val="E8871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161834" y="5242620"/>
            <a:ext cx="31045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u="none" cap="none" strike="noStrike">
                <a:solidFill>
                  <a:srgbClr val="8FA0BA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Total de aulas da UC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161834" y="5506740"/>
            <a:ext cx="3104591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2200"/>
              <a:buFont typeface="IBM Plex Sans"/>
              <a:buNone/>
            </a:pPr>
            <a:r>
              <a:rPr b="1" i="0" lang="en-US" sz="22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12800" y="1487575"/>
            <a:ext cx="76278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4400"/>
              <a:buFont typeface="Space Grotesk"/>
              <a:buNone/>
            </a:pPr>
            <a:r>
              <a:rPr b="1" i="0" lang="en-US" sz="4400" u="none" cap="none" strike="noStrike">
                <a:solidFill>
                  <a:srgbClr val="FBFBF8"/>
                </a:solidFill>
                <a:latin typeface="Space Grotesk"/>
                <a:ea typeface="Space Grotesk"/>
                <a:cs typeface="Space Grotesk"/>
                <a:sym typeface="Space Grotesk"/>
              </a:rPr>
              <a:t>UC1 — Aplicar Matemática à Análise de Dados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8921" y="272052"/>
            <a:ext cx="2139125" cy="1254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PERCURSO FORMATIVO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Posicionamento da UC1 no curso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12800" y="1790475"/>
            <a:ext cx="3048000" cy="1285200"/>
          </a:xfrm>
          <a:prstGeom prst="roundRect">
            <a:avLst>
              <a:gd fmla="val 9757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066700" y="2044570"/>
            <a:ext cx="2616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IBM Plex Sans"/>
              <a:buNone/>
            </a:pPr>
            <a:r>
              <a:rPr b="0" i="0" lang="en-US" u="none" cap="none" strike="noStrike">
                <a:solidFill>
                  <a:srgbClr val="5B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UC2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66700" y="2319520"/>
            <a:ext cx="26163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Programação em 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row-right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3200" y="2331541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572000" y="1790601"/>
            <a:ext cx="3048000" cy="1285081"/>
          </a:xfrm>
          <a:prstGeom prst="roundRect">
            <a:avLst>
              <a:gd fmla="val 7906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826000" y="2044601"/>
            <a:ext cx="26162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0" i="0" lang="en-US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UC1 — Atual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26000" y="2334121"/>
            <a:ext cx="2616200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Aplicar Matemática à Análise de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row-right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2331541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8331200" y="1790601"/>
            <a:ext cx="3048000" cy="1285081"/>
          </a:xfrm>
          <a:prstGeom prst="roundRect">
            <a:avLst>
              <a:gd fmla="val 7906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585200" y="2044601"/>
            <a:ext cx="26162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IBM Plex Sans"/>
              <a:buNone/>
            </a:pPr>
            <a:r>
              <a:rPr b="0" i="0" lang="en-US" u="none" cap="none" strike="noStrike">
                <a:solidFill>
                  <a:srgbClr val="5B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UC3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585200" y="2334121"/>
            <a:ext cx="2616200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Próxima unidade curricular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5975" y="3332848"/>
            <a:ext cx="10560000" cy="1389900"/>
          </a:xfrm>
          <a:prstGeom prst="roundRect">
            <a:avLst>
              <a:gd fmla="val 8838" name="adj"/>
            </a:avLst>
          </a:prstGeom>
          <a:solidFill>
            <a:srgbClr val="FFFFFF"/>
          </a:solidFill>
          <a:ln cap="flat" cmpd="sng" w="9525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073150" y="3590032"/>
            <a:ext cx="1034707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Pré-requisito:</a:t>
            </a:r>
            <a:r>
              <a:rPr b="0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domínio de programação em Python, desenvolvido na UC2.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73150" y="3940473"/>
            <a:ext cx="1034707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Objetivo da UC1:</a:t>
            </a:r>
            <a:r>
              <a:rPr b="0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aplicar fundamentos matemáticos e estatísticos sobre estruturas de dados em Python.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FUNDAMENTAÇÃO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Papel da matemática na análise de 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12800" y="1790601"/>
            <a:ext cx="10883392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Dado bruto não é informação: torna-se informação por meio de cálculo, comparação e interpretação.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12800" y="2666206"/>
            <a:ext cx="5181600" cy="3477300"/>
          </a:xfrm>
          <a:prstGeom prst="roundRect">
            <a:avLst>
              <a:gd fmla="val 2922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066800" y="2920206"/>
            <a:ext cx="4813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Operações que sustentam a rotina do Analista de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6800" y="3534767"/>
            <a:ext cx="4813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Proporções e percentuais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Medidas de tendência central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Distribuições de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Probabilidade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Testes estatísticos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197600" y="2666206"/>
            <a:ext cx="5181600" cy="3477300"/>
          </a:xfrm>
          <a:prstGeom prst="roundRect">
            <a:avLst>
              <a:gd fmla="val 2922" name="adj"/>
            </a:avLst>
          </a:prstGeom>
          <a:solidFill>
            <a:srgbClr val="12203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451600" y="2920206"/>
            <a:ext cx="4813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Aplicação direta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51600" y="3290987"/>
            <a:ext cx="48138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Relatórios gerenciais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Indicadores (KPIs)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Suporte à tomada de decisão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196241" y="6285905"/>
            <a:ext cx="2337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MERCADO DE TRABALHO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12800" y="1127720"/>
            <a:ext cx="10883392" cy="843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FBFB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Competências matemáticas e estatísticas como critério de seleção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12800" y="2199481"/>
            <a:ext cx="3386634" cy="3642519"/>
          </a:xfrm>
          <a:prstGeom prst="roundRect">
            <a:avLst>
              <a:gd fmla="val 3000" name="adj"/>
            </a:avLst>
          </a:prstGeom>
          <a:solidFill>
            <a:srgbClr val="1B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066800" y="2453481"/>
            <a:ext cx="2964993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Perfil de vaga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066800" y="2862362"/>
            <a:ext cx="2964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4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Requisito recorrente em processos seletivos para Analista de Dados Jr. e Pleno.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402634" y="2199481"/>
            <a:ext cx="3386733" cy="3642519"/>
          </a:xfrm>
          <a:prstGeom prst="roundRect">
            <a:avLst>
              <a:gd fmla="val 3000" name="adj"/>
            </a:avLst>
          </a:prstGeom>
          <a:solidFill>
            <a:srgbClr val="1B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656634" y="2453481"/>
            <a:ext cx="2965095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Ferramentas do mercado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656634" y="2862362"/>
            <a:ext cx="29652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683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800"/>
              <a:buFont typeface="IBM Plex Sans"/>
              <a:buChar char="•"/>
            </a:pPr>
            <a:r>
              <a:rPr b="0" i="0" lang="en-US" sz="18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Excel / planilhas avançadas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800"/>
              <a:buFont typeface="IBM Plex Sans"/>
              <a:buChar char="•"/>
            </a:pPr>
            <a:r>
              <a:rPr b="0" i="0" lang="en-US" sz="18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 (Pandas, NumPy)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800"/>
              <a:buFont typeface="IBM Plex Sans"/>
              <a:buChar char="•"/>
            </a:pPr>
            <a:r>
              <a:rPr b="0" i="0" lang="en-US" sz="18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800"/>
              <a:buFont typeface="IBM Plex Sans"/>
              <a:buChar char="•"/>
            </a:pPr>
            <a:r>
              <a:rPr b="0" i="0" lang="en-US" sz="18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BI (Power BI, Tableau)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992566" y="2199481"/>
            <a:ext cx="3386634" cy="3642519"/>
          </a:xfrm>
          <a:prstGeom prst="roundRect">
            <a:avLst>
              <a:gd fmla="val 3000" name="adj"/>
            </a:avLst>
          </a:prstGeom>
          <a:solidFill>
            <a:srgbClr val="1B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246566" y="2453481"/>
            <a:ext cx="2964993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Fundamento comum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246566" y="2862362"/>
            <a:ext cx="2964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4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Estatística descritiva e raciocínio quantitativo sustentam o uso de todas essas ferramentas.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FA0BA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ESTRUTURA DA UC — 11 AULAS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Blocos de conteúdo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12800" y="1790601"/>
            <a:ext cx="3420467" cy="1949450"/>
          </a:xfrm>
          <a:prstGeom prst="roundRect">
            <a:avLst>
              <a:gd fmla="val 5212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016000" y="1993801"/>
            <a:ext cx="310448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016000" y="2318841"/>
            <a:ext cx="31044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Razão, proporção e porcentagem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385667" y="1790601"/>
            <a:ext cx="3420566" cy="1949450"/>
          </a:xfrm>
          <a:prstGeom prst="roundRect">
            <a:avLst>
              <a:gd fmla="val 5212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588867" y="1993801"/>
            <a:ext cx="31045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88867" y="2318841"/>
            <a:ext cx="31045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Organização de dados em 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958634" y="1790601"/>
            <a:ext cx="3420566" cy="1949450"/>
          </a:xfrm>
          <a:prstGeom prst="roundRect">
            <a:avLst>
              <a:gd fmla="val 5212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161834" y="1993801"/>
            <a:ext cx="31045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161834" y="2318841"/>
            <a:ext cx="31045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Medidas de tendência central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12800" y="3892451"/>
            <a:ext cx="3420467" cy="1949549"/>
          </a:xfrm>
          <a:prstGeom prst="roundRect">
            <a:avLst>
              <a:gd fmla="val 5211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16000" y="4095651"/>
            <a:ext cx="310448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16000" y="4420691"/>
            <a:ext cx="31044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Visualização de dados (gráficos)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385667" y="3892451"/>
            <a:ext cx="3420566" cy="1949549"/>
          </a:xfrm>
          <a:prstGeom prst="roundRect">
            <a:avLst>
              <a:gd fmla="val 5211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588867" y="4095651"/>
            <a:ext cx="31045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88867" y="4420691"/>
            <a:ext cx="31045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Probabilidade e testes estatísticos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958634" y="3892451"/>
            <a:ext cx="3420566" cy="1949549"/>
          </a:xfrm>
          <a:prstGeom prst="roundRect">
            <a:avLst>
              <a:gd fmla="val 5211" name="adj"/>
            </a:avLst>
          </a:prstGeom>
          <a:solidFill>
            <a:srgbClr val="12203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161834" y="4095651"/>
            <a:ext cx="31045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161834" y="4420691"/>
            <a:ext cx="31045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Integração e entregável final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ENTREGÁVEL FINAL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Relatório técnico de análise de 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12800" y="2533650"/>
            <a:ext cx="10566400" cy="1397000"/>
          </a:xfrm>
          <a:prstGeom prst="roundRect">
            <a:avLst>
              <a:gd fmla="val 7273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168400" y="2889250"/>
            <a:ext cx="10150856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8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Aplicação de conceitos matemáticos e estatísticos sobre uma base de dados simples, implementados com estruturas de dados em Python.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12800" y="4927699"/>
            <a:ext cx="5207000" cy="914301"/>
          </a:xfrm>
          <a:prstGeom prst="roundRect">
            <a:avLst>
              <a:gd fmla="val 11112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016000" y="5130899"/>
            <a:ext cx="494461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8FA0BA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Formato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16000" y="5395020"/>
            <a:ext cx="4944618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Desenvolvimento em duplas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72200" y="4927699"/>
            <a:ext cx="5207000" cy="914301"/>
          </a:xfrm>
          <a:prstGeom prst="roundRect">
            <a:avLst>
              <a:gd fmla="val 11112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375400" y="5130899"/>
            <a:ext cx="494461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8FA0BA"/>
                </a:solidFill>
                <a:latin typeface="IBM Plex Sans"/>
                <a:ea typeface="IBM Plex Sans"/>
                <a:cs typeface="IBM Plex Sans"/>
                <a:sym typeface="IBM Plex Sans"/>
              </a:rPr>
              <a:t>Apresentação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375400" y="5395020"/>
            <a:ext cx="4944618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Aula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871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2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DINÂMICA EM TURMA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 pergunta de negócio ao número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12800" y="1739801"/>
            <a:ext cx="1731963" cy="502841"/>
          </a:xfrm>
          <a:prstGeom prst="roundRect">
            <a:avLst>
              <a:gd fmla="val 20205" name="adj"/>
            </a:avLst>
          </a:prstGeom>
          <a:solidFill>
            <a:srgbClr val="FB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016000" y="1866801"/>
            <a:ext cx="1376363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Formato:</a:t>
            </a:r>
            <a:r>
              <a:rPr b="0" i="0" lang="en-US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duplas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697163" y="1739801"/>
            <a:ext cx="2487315" cy="502841"/>
          </a:xfrm>
          <a:prstGeom prst="roundRect">
            <a:avLst>
              <a:gd fmla="val 20205" name="adj"/>
            </a:avLst>
          </a:prstGeom>
          <a:solidFill>
            <a:srgbClr val="FB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2900363" y="1866801"/>
            <a:ext cx="214334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Duração:</a:t>
            </a:r>
            <a:r>
              <a:rPr b="0" i="0" lang="en-US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10 a 15 minutos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12800" y="2445841"/>
            <a:ext cx="5181600" cy="2979638"/>
          </a:xfrm>
          <a:prstGeom prst="roundRect">
            <a:avLst>
              <a:gd fmla="val 3410" name="adj"/>
            </a:avLst>
          </a:prstGeom>
          <a:solidFill>
            <a:srgbClr val="FB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066800" y="2699841"/>
            <a:ext cx="4813808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Etapas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66800" y="3030041"/>
            <a:ext cx="4813808" cy="1610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dupla recebe uma pergunta de negócio.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Sem calcular, identificar qual operação matemática ou estatística seria necessária para responder.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dupla apresenta sua resposta em uma frase.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O docente mapeia as respostas nos blocos de conteúdo da UC.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197600" y="2445841"/>
            <a:ext cx="5181600" cy="2979638"/>
          </a:xfrm>
          <a:prstGeom prst="roundRect">
            <a:avLst>
              <a:gd fmla="val 3410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451600" y="2699841"/>
            <a:ext cx="4813808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Exemplos de pergunta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51600" y="3030041"/>
            <a:ext cx="481380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9EE"/>
              </a:buClr>
              <a:buSzPts val="13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E7E9EE"/>
                </a:solidFill>
                <a:latin typeface="IBM Plex Sans"/>
                <a:ea typeface="IBM Plex Sans"/>
                <a:cs typeface="IBM Plex Sans"/>
                <a:sym typeface="IBM Plex Sans"/>
              </a:rPr>
              <a:t>"Qual produto teve maior participação nas vendas do mês?"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451600" y="3675266"/>
            <a:ext cx="4813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9EE"/>
              </a:buClr>
              <a:buSzPts val="13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E7E9EE"/>
                </a:solidFill>
                <a:latin typeface="IBM Plex Sans"/>
                <a:ea typeface="IBM Plex Sans"/>
                <a:cs typeface="IBM Plex Sans"/>
                <a:sym typeface="IBM Plex Sans"/>
              </a:rPr>
              <a:t>"As vendas de um vendedor estão acima ou abaixo da média da equipe?"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2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Objetivo pedagógico:</a:t>
            </a:r>
            <a:r>
              <a:rPr b="0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conectar conceitos matemáticos a decisões reais antes da formalização técnica.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REVISÃO TÉCNICA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como ferramenta de implementação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12800" y="1838226"/>
            <a:ext cx="10883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 não é o conteúdo desta UC — é o meio de implementação dos conceitos matemáticos e estatísticos que serão trabalhados.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12800" y="2749451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5B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Elementos a serem revisados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12800" y="3125291"/>
            <a:ext cx="3437400" cy="619800"/>
          </a:xfrm>
          <a:prstGeom prst="roundRect">
            <a:avLst>
              <a:gd fmla="val 16395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707075" y="3328500"/>
            <a:ext cx="1251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Variáveis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377234" y="3125291"/>
            <a:ext cx="3437400" cy="619800"/>
          </a:xfrm>
          <a:prstGeom prst="roundRect">
            <a:avLst>
              <a:gd fmla="val 16395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873826" y="3328500"/>
            <a:ext cx="2251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Operadores aritméticos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941766" y="3125291"/>
            <a:ext cx="3437400" cy="619800"/>
          </a:xfrm>
          <a:prstGeom prst="roundRect">
            <a:avLst>
              <a:gd fmla="val 16395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9005442" y="3328500"/>
            <a:ext cx="9477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12800" y="3872012"/>
            <a:ext cx="3437400" cy="619800"/>
          </a:xfrm>
          <a:prstGeom prst="roundRect">
            <a:avLst>
              <a:gd fmla="val 16395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1707074" y="4075200"/>
            <a:ext cx="133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Dicionários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377234" y="3872012"/>
            <a:ext cx="3437400" cy="619800"/>
          </a:xfrm>
          <a:prstGeom prst="roundRect">
            <a:avLst>
              <a:gd fmla="val 16395" name="adj"/>
            </a:avLst>
          </a:prstGeom>
          <a:solidFill>
            <a:srgbClr val="12203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873826" y="4075200"/>
            <a:ext cx="2247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14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FBFBF8"/>
                </a:solidFill>
                <a:latin typeface="IBM Plex Sans"/>
                <a:ea typeface="IBM Plex Sans"/>
                <a:cs typeface="IBM Plex Sans"/>
                <a:sym typeface="IBM Plex Sans"/>
              </a:rPr>
              <a:t>Laços de repetição (for)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941766" y="3872012"/>
            <a:ext cx="3437400" cy="619800"/>
          </a:xfrm>
          <a:prstGeom prst="roundRect">
            <a:avLst>
              <a:gd fmla="val 16395" name="adj"/>
            </a:avLst>
          </a:prstGeom>
          <a:solidFill>
            <a:srgbClr val="EFEDE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9005447" y="4075200"/>
            <a:ext cx="1048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4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Variáveis e operadores aplicados a cálculo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12800" y="2703810"/>
            <a:ext cx="10566400" cy="1666180"/>
          </a:xfrm>
          <a:prstGeom prst="roundRect">
            <a:avLst>
              <a:gd fmla="val 6098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168400" y="305941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BFC8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preco_unitario = 25.90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168400" y="339467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BFC8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quantidade = 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168400" y="372993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E887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= preco_unitario * quantidade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12800" y="5537200"/>
            <a:ext cx="1088339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Aplicação:</a:t>
            </a:r>
            <a:r>
              <a:rPr b="0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cálculo de total de venda a partir de variáveis numéricas e um operador aritmético.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Estruturas de dados: representação de registros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12800" y="2383830"/>
            <a:ext cx="10566400" cy="2001441"/>
          </a:xfrm>
          <a:prstGeom prst="roundRect">
            <a:avLst>
              <a:gd fmla="val 5076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168400" y="273943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BFC8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vendas = [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168400" y="307469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E887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{"produto": "A", "valor": 150.00},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168400" y="340995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E887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{"produto": "B", "valor": 320.00}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68400" y="374521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BFC8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812800" y="5232400"/>
            <a:ext cx="1088339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Aplicação:</a:t>
            </a:r>
            <a:r>
              <a:rPr b="0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 lista de dicionários representando registros de uma base simples — estrutura equivalente à utilizada nas próximas aulas.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Laços e funções aplicados a </a:t>
            </a:r>
            <a:r>
              <a:rPr b="1" lang="en-US" sz="2800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cálculo</a:t>
            </a:r>
            <a:r>
              <a:rPr b="1" i="0" lang="en-US" sz="2800" u="none" cap="none" strike="noStrike">
                <a:solidFill>
                  <a:srgbClr val="12203A"/>
                </a:solidFill>
                <a:latin typeface="Space Grotesk"/>
                <a:ea typeface="Space Grotesk"/>
                <a:cs typeface="Space Grotesk"/>
                <a:sym typeface="Space Grotesk"/>
              </a:rPr>
              <a:t> agregado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812800" y="2551410"/>
            <a:ext cx="10566400" cy="1666180"/>
          </a:xfrm>
          <a:prstGeom prst="roundRect">
            <a:avLst>
              <a:gd fmla="val 6098" name="adj"/>
            </a:avLst>
          </a:prstGeom>
          <a:solidFill>
            <a:srgbClr val="122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1168400" y="290701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BFC8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=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168400" y="324227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E887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venda in vendas: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168400" y="3577530"/>
            <a:ext cx="1015085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JetBrains Mono"/>
              <a:buNone/>
            </a:pPr>
            <a:r>
              <a:rPr b="0" i="0" lang="en-US" sz="1600" u="none" cap="none" strike="noStrike">
                <a:solidFill>
                  <a:srgbClr val="E887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total += venda["valor"]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812800" y="5232400"/>
            <a:ext cx="1088339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Aplicação:</a:t>
            </a:r>
            <a:r>
              <a:rPr b="0" i="0" lang="en-US" sz="1800" u="none" cap="none" strike="noStrike">
                <a:solidFill>
                  <a:srgbClr val="3A4150"/>
                </a:solidFill>
                <a:latin typeface="IBM Plex Sans"/>
                <a:ea typeface="IBM Plex Sans"/>
                <a:cs typeface="IBM Plex Sans"/>
                <a:sym typeface="IBM Plex Sans"/>
              </a:rPr>
              <a:t> laço de repetição percorrendo a lista de registros para acumular um valor total. Uma função encapsula esse cálculo para reuso.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2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E8871E"/>
                </a:solidFill>
                <a:latin typeface="IBM Plex Sans"/>
                <a:ea typeface="IBM Plex Sans"/>
                <a:cs typeface="IBM Plex Sans"/>
                <a:sym typeface="IBM Plex Sans"/>
              </a:rPr>
              <a:t>SÍNTESE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FBF8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FBFB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Encerramento — Aula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812800" y="2434624"/>
            <a:ext cx="10566300" cy="2045100"/>
          </a:xfrm>
          <a:prstGeom prst="roundRect">
            <a:avLst>
              <a:gd fmla="val 5918" name="adj"/>
            </a:avLst>
          </a:prstGeom>
          <a:solidFill>
            <a:srgbClr val="1B2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066800" y="2688624"/>
            <a:ext cx="10360200" cy="15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Papel da matemática na análise de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Demanda de mercado por competências quantitativas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Estrutura da UC e entregável final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BFC8D6"/>
              </a:buClr>
              <a:buSzPts val="1600"/>
              <a:buFont typeface="IBM Plex Sans"/>
              <a:buChar char="•"/>
            </a:pPr>
            <a:r>
              <a:rPr b="0" i="0" lang="en-US" sz="1600" u="none" cap="none" strike="noStrike">
                <a:solidFill>
                  <a:srgbClr val="BFC8D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Revisão de Python aplicada a cálculo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812800" y="5049540"/>
            <a:ext cx="10566400" cy="792460"/>
          </a:xfrm>
          <a:prstGeom prst="roundRect">
            <a:avLst>
              <a:gd fmla="val 12821" name="adj"/>
            </a:avLst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066800" y="5303540"/>
            <a:ext cx="1036015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03A"/>
              </a:buClr>
              <a:buSzPts val="16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Próxima aula:</a:t>
            </a:r>
            <a:r>
              <a:rPr b="0" i="0" lang="en-US" sz="1800" u="none" cap="none" strike="noStrike">
                <a:solidFill>
                  <a:srgbClr val="12203A"/>
                </a:solidFill>
                <a:latin typeface="IBM Plex Sans"/>
                <a:ea typeface="IBM Plex Sans"/>
                <a:cs typeface="IBM Plex Sans"/>
                <a:sym typeface="IBM Plex Sans"/>
              </a:rPr>
              <a:t> Aula 2 — Razão, proporção e porcentagem aplicadas a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FA0BA"/>
                </a:solidFill>
                <a:latin typeface="IBM Plex Sans"/>
                <a:ea typeface="IBM Plex Sans"/>
                <a:cs typeface="IBM Plex Sans"/>
                <a:sym typeface="IBM Plex Sans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2026-09-16T23:35:43Z</dcterms:created>
  <dc:creator>PptxGenJS</dc:creator>
</cp:coreProperties>
</file>